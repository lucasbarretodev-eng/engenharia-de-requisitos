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Plus Jakarta Sans"/>
      <p:regular r:id="rId15"/>
      <p:bold r:id="rId16"/>
      <p:italic r:id="rId17"/>
      <p:boldItalic r:id="rId18"/>
    </p:embeddedFont>
    <p:embeddedFont>
      <p:font typeface="Space Grotesk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61D2E7-C09F-49D3-ADB9-4BA1A2136F70}">
  <a:tblStyle styleId="{4161D2E7-C09F-49D3-ADB9-4BA1A2136F7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Grotesk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PlusJakartaSans-regular.fntdata"/><Relationship Id="rId14" Type="http://schemas.openxmlformats.org/officeDocument/2006/relationships/slide" Target="slides/slide8.xml"/><Relationship Id="rId17" Type="http://schemas.openxmlformats.org/officeDocument/2006/relationships/font" Target="fonts/PlusJakartaSans-italic.fntdata"/><Relationship Id="rId16" Type="http://schemas.openxmlformats.org/officeDocument/2006/relationships/font" Target="fonts/PlusJakartaSans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SpaceGrotesk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lusJakarta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7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1764059"/>
            <a:ext cx="2471737" cy="219075"/>
          </a:xfrm>
          <a:prstGeom prst="roundRect">
            <a:avLst>
              <a:gd fmla="val 26086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4493865"/>
            <a:ext cx="76200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09600" y="4493865"/>
            <a:ext cx="7620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23900" y="1802159"/>
            <a:ext cx="233838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333E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ENGENHARIA DE REQUISITOS • CEUB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2211734"/>
            <a:ext cx="9101137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U.C. Battle: Do Requisito ao Diagrama de Casos de Uso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09600" y="3617565"/>
            <a:ext cx="723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Resumo executivo da atividade prática de modelagem UML baseada em um jogo sério e acessível.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09600" y="4731990"/>
            <a:ext cx="386953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ESTUDANTES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09600" y="4912965"/>
            <a:ext cx="386953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Lucas Barreto • Yuri Marques • Lucas Oliveira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010025" y="4731990"/>
            <a:ext cx="296465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TEMA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4010025" y="4912965"/>
            <a:ext cx="296465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Modelagem UML &amp; Acessibilidade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609600" y="457200"/>
            <a:ext cx="10972800" cy="219075"/>
          </a:xfrm>
          <a:prstGeom prst="roundRect">
            <a:avLst>
              <a:gd fmla="val 26086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3171325" y="1929540"/>
            <a:ext cx="5091600" cy="2067000"/>
          </a:xfrm>
          <a:prstGeom prst="roundRect">
            <a:avLst>
              <a:gd fmla="val 7973" name="adj"/>
            </a:avLst>
          </a:prstGeom>
          <a:solidFill>
            <a:srgbClr val="F8FAFC"/>
          </a:solidFill>
          <a:ln cap="flat" cmpd="sng" w="137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900" lIns="131875" spcFirstLastPara="1" rIns="131875" wrap="square" tIns="65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908675" y="4535500"/>
            <a:ext cx="4993800" cy="1724400"/>
          </a:xfrm>
          <a:prstGeom prst="roundRect">
            <a:avLst>
              <a:gd fmla="val 9375" name="adj"/>
            </a:avLst>
          </a:prstGeom>
          <a:solidFill>
            <a:srgbClr val="F8FAFC"/>
          </a:solidFill>
          <a:ln cap="flat" cmpd="sng" w="134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625" lIns="129300" spcFirstLastPara="1" rIns="129300" wrap="square" tIns="64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6171758" y="4535500"/>
            <a:ext cx="4993200" cy="1724400"/>
          </a:xfrm>
          <a:prstGeom prst="roundRect">
            <a:avLst>
              <a:gd fmla="val 9375" name="adj"/>
            </a:avLst>
          </a:prstGeom>
          <a:solidFill>
            <a:srgbClr val="F8FAFC"/>
          </a:solidFill>
          <a:ln cap="flat" cmpd="sng" w="134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625" lIns="129300" spcFirstLastPara="1" rIns="129300" wrap="square" tIns="64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4749" y="2307306"/>
            <a:ext cx="247265" cy="2472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5472" y="4905976"/>
            <a:ext cx="215550" cy="242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8555" y="4905976"/>
            <a:ext cx="242494" cy="24249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23900" y="495300"/>
            <a:ext cx="108394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ETAPA 1 • CONTEXTO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09600" y="790575"/>
            <a:ext cx="1158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O que é o U.C. Battle?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09600" y="1209675"/>
            <a:ext cx="11582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Jogo sério gamificado para o ensino prático de Engenharia de Requisitos.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3899384" y="2272963"/>
            <a:ext cx="51213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47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Objetivo</a:t>
            </a:r>
            <a:endParaRPr sz="2019"/>
          </a:p>
        </p:txBody>
      </p:sp>
      <p:sp>
        <p:nvSpPr>
          <p:cNvPr id="109" name="Google Shape;109;p14"/>
          <p:cNvSpPr txBox="1"/>
          <p:nvPr/>
        </p:nvSpPr>
        <p:spPr>
          <a:xfrm>
            <a:off x="3514749" y="2726281"/>
            <a:ext cx="45420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2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Ensinar a criação de Diagramas de Casos de Uso através de combates interativos por charadas.</a:t>
            </a:r>
            <a:endParaRPr sz="2019"/>
          </a:p>
        </p:txBody>
      </p:sp>
      <p:sp>
        <p:nvSpPr>
          <p:cNvPr id="110" name="Google Shape;110;p14"/>
          <p:cNvSpPr txBox="1"/>
          <p:nvPr/>
        </p:nvSpPr>
        <p:spPr>
          <a:xfrm>
            <a:off x="1595741" y="4872297"/>
            <a:ext cx="50496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9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Público-Alvo</a:t>
            </a:r>
            <a:endParaRPr sz="1980"/>
          </a:p>
        </p:txBody>
      </p:sp>
      <p:sp>
        <p:nvSpPr>
          <p:cNvPr id="111" name="Google Shape;111;p14"/>
          <p:cNvSpPr txBox="1"/>
          <p:nvPr/>
        </p:nvSpPr>
        <p:spPr>
          <a:xfrm>
            <a:off x="1245472" y="5316869"/>
            <a:ext cx="44547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1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Estudantes de Tecnologia da Informação e Engenharia de Software (Ator: Jogador).</a:t>
            </a:r>
            <a:endParaRPr sz="1980"/>
          </a:p>
        </p:txBody>
      </p:sp>
      <p:sp>
        <p:nvSpPr>
          <p:cNvPr id="112" name="Google Shape;112;p14"/>
          <p:cNvSpPr txBox="1"/>
          <p:nvPr/>
        </p:nvSpPr>
        <p:spPr>
          <a:xfrm>
            <a:off x="6885768" y="4872297"/>
            <a:ext cx="50226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9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Inclusão</a:t>
            </a:r>
            <a:endParaRPr sz="1980"/>
          </a:p>
        </p:txBody>
      </p:sp>
      <p:sp>
        <p:nvSpPr>
          <p:cNvPr id="113" name="Google Shape;113;p14"/>
          <p:cNvSpPr txBox="1"/>
          <p:nvPr/>
        </p:nvSpPr>
        <p:spPr>
          <a:xfrm>
            <a:off x="6508555" y="5316869"/>
            <a:ext cx="44544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1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Interface 100% acessível projetada para inclusão de pessoas com deficiência visual.</a:t>
            </a:r>
            <a:endParaRPr sz="198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/>
          <p:nvPr/>
        </p:nvSpPr>
        <p:spPr>
          <a:xfrm>
            <a:off x="609600" y="457200"/>
            <a:ext cx="10972800" cy="219075"/>
          </a:xfrm>
          <a:prstGeom prst="roundRect">
            <a:avLst>
              <a:gd fmla="val 26086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609600" y="3148012"/>
            <a:ext cx="5391150" cy="1724025"/>
          </a:xfrm>
          <a:prstGeom prst="roundRect">
            <a:avLst>
              <a:gd fmla="val 662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6191250" y="3233737"/>
            <a:ext cx="5391150" cy="1552575"/>
          </a:xfrm>
          <a:prstGeom prst="roundRect">
            <a:avLst>
              <a:gd fmla="val 736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609600" y="4862512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609600" y="3148012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609600" y="3148012"/>
            <a:ext cx="38100" cy="17240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5991225" y="3148012"/>
            <a:ext cx="9525" cy="17240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6191250" y="4776787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6191250" y="3233737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6191250" y="3233737"/>
            <a:ext cx="38100" cy="1552575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11572875" y="3233737"/>
            <a:ext cx="9525" cy="1552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9" name="Google Shape;12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300" y="340995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7950" y="349567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3743325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3990975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4238625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4486275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57950" y="3829050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57950" y="4114800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57950" y="4400550"/>
            <a:ext cx="1714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 txBox="1"/>
          <p:nvPr/>
        </p:nvSpPr>
        <p:spPr>
          <a:xfrm>
            <a:off x="723900" y="495300"/>
            <a:ext cx="108394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ETAPA 1 • REQUISITOS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609600" y="790575"/>
            <a:ext cx="1158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Acessibilidade e Regras de Negócio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09600" y="1209675"/>
            <a:ext cx="11582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Garantindo usabilidade plena e engajamento no fluxo de jogo.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1143000" y="3386137"/>
            <a:ext cx="58412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Recursos de Acessibilidade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6724650" y="3471862"/>
            <a:ext cx="54673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Regras de Negócio Principais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876300" y="3719512"/>
            <a:ext cx="610790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Narração Completa: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Leitura de perguntas, alternativas e teoria.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876300" y="3967162"/>
            <a:ext cx="610790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Teclado 100%: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Navegação total via Tab, Enter e Setas.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876300" y="4214812"/>
            <a:ext cx="610790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Alto Contraste: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Opção visual otimizada.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876300" y="4462462"/>
            <a:ext cx="610790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Semântica HTML: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Redundância visual sem depender só de cores.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6457950" y="3805237"/>
            <a:ext cx="5734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Condição da Dica: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Uso único por batalha e liberado apenas com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≤ 2 PVs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6457950" y="4090987"/>
            <a:ext cx="5734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Penalidade: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Erro na charada reduz 1 Ponto de Vida (PV) no modo batalha.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6457950" y="4376737"/>
            <a:ext cx="5734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Modo Treino: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Prática livre sem perda de vida ou vilões trancados.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/>
          <p:nvPr/>
        </p:nvSpPr>
        <p:spPr>
          <a:xfrm>
            <a:off x="609600" y="457200"/>
            <a:ext cx="10972800" cy="219075"/>
          </a:xfrm>
          <a:prstGeom prst="roundRect">
            <a:avLst>
              <a:gd fmla="val 26086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723900" y="495300"/>
            <a:ext cx="108394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333E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ETAPA 2 • MODELAGEM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609600" y="790575"/>
            <a:ext cx="1158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Estrutura do Diagrama de Casos de Uso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609600" y="1209675"/>
            <a:ext cx="11582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Mapeamento visual da fronteira, atores e relacionamentos.</a:t>
            </a:r>
            <a:endParaRPr/>
          </a:p>
        </p:txBody>
      </p:sp>
      <p:pic>
        <p:nvPicPr>
          <p:cNvPr id="158" name="Google Shape;15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8488" y="2041825"/>
            <a:ext cx="7384625" cy="401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/>
          <p:nvPr/>
        </p:nvSpPr>
        <p:spPr>
          <a:xfrm>
            <a:off x="609600" y="457200"/>
            <a:ext cx="10972800" cy="219075"/>
          </a:xfrm>
          <a:prstGeom prst="roundRect">
            <a:avLst>
              <a:gd fmla="val 26086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609600" y="2096690"/>
            <a:ext cx="5391150" cy="1247775"/>
          </a:xfrm>
          <a:prstGeom prst="roundRect">
            <a:avLst>
              <a:gd fmla="val 916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6191250" y="2096690"/>
            <a:ext cx="5391150" cy="1247775"/>
          </a:xfrm>
          <a:prstGeom prst="roundRect">
            <a:avLst>
              <a:gd fmla="val 916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609600" y="4489846"/>
            <a:ext cx="5391150" cy="1433512"/>
          </a:xfrm>
          <a:prstGeom prst="roundRect">
            <a:avLst>
              <a:gd fmla="val 797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6191250" y="4489846"/>
            <a:ext cx="5391150" cy="1433512"/>
          </a:xfrm>
          <a:prstGeom prst="roundRect">
            <a:avLst>
              <a:gd fmla="val 797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8" name="Google Shape;16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2358628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9375" y="2358628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725" y="4751784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9375" y="4751784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723900" y="495300"/>
            <a:ext cx="108394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333E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ETAPA 2 • DECISÕES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09600" y="790575"/>
            <a:ext cx="1158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Decisões de Modelagem UML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09600" y="1209675"/>
            <a:ext cx="11582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Justificativa técnica para as conexões do diagrama.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162050" y="2334815"/>
            <a:ext cx="58293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333E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Relação &lt;&gt;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847725" y="2649140"/>
            <a:ext cx="6143625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Enfrentar Vilão → Responder Charada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847725" y="2920603"/>
            <a:ext cx="614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Obrigatório. Não existe combate sem o envio de respostas às charadas.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6677025" y="2334815"/>
            <a:ext cx="5514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Relação &lt;&gt;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6429375" y="2649140"/>
            <a:ext cx="5762625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Receber Dica → Enfrentar Vilão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6429375" y="2920603"/>
            <a:ext cx="5762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Opcional e condicionado. Depende da ativação pelo jogador sob a regra de ≤ 2 PVs.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1133475" y="4727971"/>
            <a:ext cx="5857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Acesso Independente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847725" y="5042296"/>
            <a:ext cx="6143625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Consultar Conteúdo (Book)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847725" y="5313759"/>
            <a:ext cx="50101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Independente do fluxo de combate. Pode ser acessado a qualquer momento no menu.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6677025" y="4727971"/>
            <a:ext cx="5514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Nota UML (Regra)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6429375" y="5042296"/>
            <a:ext cx="5762625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Restrição da Habilidade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6429375" y="5313759"/>
            <a:ext cx="50101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Regras de negócio e condições específicas de vida (PV) foram documentadas em notas ligadas ao caso de uso.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/>
          <p:nvPr/>
        </p:nvSpPr>
        <p:spPr>
          <a:xfrm>
            <a:off x="609600" y="457200"/>
            <a:ext cx="10972800" cy="219075"/>
          </a:xfrm>
          <a:prstGeom prst="roundRect">
            <a:avLst>
              <a:gd fmla="val 26086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609600" y="3167062"/>
            <a:ext cx="983009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1592609" y="3167062"/>
            <a:ext cx="4828579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6421189" y="3167062"/>
            <a:ext cx="333940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9760594" y="3167062"/>
            <a:ext cx="182180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609600" y="3590925"/>
            <a:ext cx="9830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1592609" y="3590925"/>
            <a:ext cx="48285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6421189" y="3590925"/>
            <a:ext cx="33394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9760594" y="3590925"/>
            <a:ext cx="18218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609600" y="4000500"/>
            <a:ext cx="9830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1592609" y="4000500"/>
            <a:ext cx="48285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6421189" y="4000500"/>
            <a:ext cx="33394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9760594" y="4000500"/>
            <a:ext cx="18218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609600" y="4410075"/>
            <a:ext cx="9830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1592609" y="4410075"/>
            <a:ext cx="48285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6421189" y="4410075"/>
            <a:ext cx="33394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9760594" y="4410075"/>
            <a:ext cx="18218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609600" y="4819650"/>
            <a:ext cx="9830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1592609" y="4819650"/>
            <a:ext cx="48285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6421189" y="4819650"/>
            <a:ext cx="33394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9760594" y="4819650"/>
            <a:ext cx="18218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609600" y="5229225"/>
            <a:ext cx="9830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1592609" y="5229225"/>
            <a:ext cx="48285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6421189" y="5229225"/>
            <a:ext cx="33394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9760594" y="5229225"/>
            <a:ext cx="18218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6" name="Google Shape;2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12994" y="3748087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12994" y="497681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12994" y="4567237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12994" y="415766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12994" y="333851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12994" y="333851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12994" y="3748087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12994" y="415766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12994" y="4567237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12994" y="4976812"/>
            <a:ext cx="114300" cy="133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6" name="Google Shape;226;p18"/>
          <p:cNvGraphicFramePr/>
          <p:nvPr/>
        </p:nvGraphicFramePr>
        <p:xfrm>
          <a:off x="609600" y="27765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{4161D2E7-C09F-49D3-ADB9-4BA1A2136F70}</a:tableStyleId>
              </a:tblPr>
              <a:tblGrid>
                <a:gridCol w="983000"/>
                <a:gridCol w="4828575"/>
                <a:gridCol w="3339400"/>
                <a:gridCol w="1821800"/>
              </a:tblGrid>
              <a:tr h="411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Requisito Funcional / Regra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Caso de Uso Correspondente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 Diagrama?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RF01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Menu com vilões bloqueados/desbloqueados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Selecionar Fase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Sim</a:t>
                      </a:r>
                      <a:endParaRPr/>
                    </a:p>
                  </a:txBody>
                  <a:tcPr marT="25400" marB="25400" marR="63500" marL="22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RF02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Realização do combate com atualização de PV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Enfrentar Vilão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Sim</a:t>
                      </a:r>
                      <a:endParaRPr/>
                    </a:p>
                  </a:txBody>
                  <a:tcPr marT="25400" marB="25400" marR="63500" marL="22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RF03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Liberação de dica sob restrição (≤ 2 PVs)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Receber Dica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Sim</a:t>
                      </a:r>
                      <a:endParaRPr/>
                    </a:p>
                  </a:txBody>
                  <a:tcPr marT="25400" marB="25400" marR="63500" marL="22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RF04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Prática no modo treino sem penalidades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Acessar Modo de Treinamento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Sim</a:t>
                      </a:r>
                      <a:endParaRPr/>
                    </a:p>
                  </a:txBody>
                  <a:tcPr marT="25400" marB="25400" marR="63500" marL="22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RF05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Ativação e desativação da narração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Configurar Acessibilidade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Sim</a:t>
                      </a:r>
                      <a:endParaRPr/>
                    </a:p>
                  </a:txBody>
                  <a:tcPr marT="25400" marB="25400" marR="63500" marL="22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7" name="Google Shape;227;p18"/>
          <p:cNvSpPr txBox="1"/>
          <p:nvPr/>
        </p:nvSpPr>
        <p:spPr>
          <a:xfrm>
            <a:off x="723900" y="495300"/>
            <a:ext cx="108394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ETAPA 3 • RASTREABILIDADE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609600" y="790575"/>
            <a:ext cx="1158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Matriz de Rastreabilidade (Amostra)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609600" y="1209675"/>
            <a:ext cx="11582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Garantia de conformidade entre requisitos e diagramas.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"/>
          <p:cNvSpPr/>
          <p:nvPr/>
        </p:nvSpPr>
        <p:spPr>
          <a:xfrm>
            <a:off x="609600" y="457200"/>
            <a:ext cx="10972800" cy="219075"/>
          </a:xfrm>
          <a:prstGeom prst="roundRect">
            <a:avLst>
              <a:gd fmla="val 26086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609600" y="3278981"/>
            <a:ext cx="3530500" cy="1462087"/>
          </a:xfrm>
          <a:prstGeom prst="roundRect">
            <a:avLst>
              <a:gd fmla="val 781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4330600" y="3278981"/>
            <a:ext cx="3530649" cy="1462087"/>
          </a:xfrm>
          <a:prstGeom prst="roundRect">
            <a:avLst>
              <a:gd fmla="val 781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8051750" y="3278981"/>
            <a:ext cx="3530500" cy="1462087"/>
          </a:xfrm>
          <a:prstGeom prst="roundRect">
            <a:avLst>
              <a:gd fmla="val 781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609600" y="4731543"/>
            <a:ext cx="3530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609600" y="3278981"/>
            <a:ext cx="35305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609600" y="3278981"/>
            <a:ext cx="9525" cy="14620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4130575" y="3278981"/>
            <a:ext cx="9525" cy="14620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4330600" y="4731543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4330600" y="3278981"/>
            <a:ext cx="3530649" cy="381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4330600" y="3278981"/>
            <a:ext cx="9525" cy="14620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7851725" y="3278981"/>
            <a:ext cx="9525" cy="14620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8051750" y="4731543"/>
            <a:ext cx="3530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8051750" y="3278981"/>
            <a:ext cx="3530500" cy="381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8051750" y="3278981"/>
            <a:ext cx="9525" cy="14620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11572726" y="3278981"/>
            <a:ext cx="9525" cy="14620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0" name="Google Shape;2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9875" y="356949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9"/>
          <p:cNvSpPr txBox="1"/>
          <p:nvPr/>
        </p:nvSpPr>
        <p:spPr>
          <a:xfrm>
            <a:off x="723900" y="495300"/>
            <a:ext cx="108394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ETAPA 5 • ENCERRAMENTO</a:t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609600" y="790575"/>
            <a:ext cx="1158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Impactos da Falta de Mapeamento UML</a:t>
            </a:r>
            <a:endParaRPr/>
          </a:p>
        </p:txBody>
      </p:sp>
      <p:sp>
        <p:nvSpPr>
          <p:cNvPr id="253" name="Google Shape;253;p19"/>
          <p:cNvSpPr txBox="1"/>
          <p:nvPr/>
        </p:nvSpPr>
        <p:spPr>
          <a:xfrm>
            <a:off x="609600" y="1209675"/>
            <a:ext cx="11582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que acontece quando um requisito funcional não está no diagrama?</a:t>
            </a: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942975" y="3545681"/>
            <a:ext cx="3722563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Lacunas de Código</a:t>
            </a:r>
            <a:endParaRPr/>
          </a:p>
        </p:txBody>
      </p:sp>
      <p:sp>
        <p:nvSpPr>
          <p:cNvPr id="255" name="Google Shape;255;p19"/>
          <p:cNvSpPr txBox="1"/>
          <p:nvPr/>
        </p:nvSpPr>
        <p:spPr>
          <a:xfrm>
            <a:off x="847725" y="3860006"/>
            <a:ext cx="31495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Desenvolvedores ignoram a funcionalidade durante a implementação por falta de visibilidade na arquitetura.</a:t>
            </a:r>
            <a:endParaRPr/>
          </a:p>
        </p:txBody>
      </p:sp>
      <p:sp>
        <p:nvSpPr>
          <p:cNvPr id="256" name="Google Shape;256;p19"/>
          <p:cNvSpPr txBox="1"/>
          <p:nvPr/>
        </p:nvSpPr>
        <p:spPr>
          <a:xfrm>
            <a:off x="4663975" y="3545681"/>
            <a:ext cx="3722749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Falhas de Teste</a:t>
            </a:r>
            <a:endParaRPr/>
          </a:p>
        </p:txBody>
      </p:sp>
      <p:sp>
        <p:nvSpPr>
          <p:cNvPr id="257" name="Google Shape;257;p19"/>
          <p:cNvSpPr txBox="1"/>
          <p:nvPr/>
        </p:nvSpPr>
        <p:spPr>
          <a:xfrm>
            <a:off x="4568725" y="3860006"/>
            <a:ext cx="3149649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equipe de Qualidade (QA) perde o rastreio, impossibilitando a criação de testes de aceitação adequados.</a:t>
            </a:r>
            <a:endParaRPr/>
          </a:p>
        </p:txBody>
      </p:sp>
      <p:sp>
        <p:nvSpPr>
          <p:cNvPr id="258" name="Google Shape;258;p19"/>
          <p:cNvSpPr txBox="1"/>
          <p:nvPr/>
        </p:nvSpPr>
        <p:spPr>
          <a:xfrm>
            <a:off x="8556575" y="3545681"/>
            <a:ext cx="3551113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Divergência e Retrabalho</a:t>
            </a:r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8289875" y="3860006"/>
            <a:ext cx="31495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Incoerência entre o que o cliente/docente pediu e o entregue, gerando retrabalho no desenvolvimento.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0"/>
          <p:cNvSpPr txBox="1"/>
          <p:nvPr/>
        </p:nvSpPr>
        <p:spPr>
          <a:xfrm>
            <a:off x="2754750" y="2508450"/>
            <a:ext cx="6682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Obrigado!</a:t>
            </a:r>
            <a:endParaRPr sz="1800"/>
          </a:p>
        </p:txBody>
      </p:sp>
      <p:sp>
        <p:nvSpPr>
          <p:cNvPr id="265" name="Google Shape;265;p20"/>
          <p:cNvSpPr txBox="1"/>
          <p:nvPr/>
        </p:nvSpPr>
        <p:spPr>
          <a:xfrm>
            <a:off x="2754750" y="3250050"/>
            <a:ext cx="66825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Lucas Barreto, Yuri Marques, Lucas Oliveira </a:t>
            </a:r>
            <a:endParaRPr b="1" sz="2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